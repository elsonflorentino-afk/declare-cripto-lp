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59E0B"/>
                </a:solidFill>
                <a:latin typeface="Calibri"/>
              </a:defRPr>
            </a:pPr>
            <a:r>
              <a:t>FENIX DFA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9AA"/>
                </a:solidFill>
                <a:latin typeface="Calibri"/>
              </a:defRPr>
            </a:pPr>
            <a:r>
              <a:t>Data From Ashes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611880"/>
            <a:ext cx="15544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2F5"/>
                </a:solidFill>
                <a:latin typeface="Calibri"/>
              </a:defRPr>
            </a:pPr>
            <a:r>
              <a:t>Plano de Midia Paga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6634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9AA"/>
                </a:solidFill>
                <a:latin typeface="Calibri"/>
              </a:defRPr>
            </a:pPr>
            <a:r>
              <a:t>Awareness + Leads + 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9E0B"/>
                </a:solidFill>
                <a:latin typeface="Calibri"/>
              </a:defRPr>
            </a:pPr>
            <a:r>
              <a:t>Observabilidade inteligente de backup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  <a:latin typeface="Calibri"/>
              </a:defRPr>
            </a:pPr>
            <a:r>
              <a:t>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FENIX DFA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O Cenario — Por que midia paga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Momento ideal para acelerar: mercado em crescimento, produto validado, categoria sem dono.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6459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TIMING</a:t>
            </a:r>
          </a:p>
          <a:p>
            <a:pPr>
              <a:spcBef>
                <a:spcPts val="600"/>
              </a:spcBef>
              <a:defRPr sz="1400" b="1">
                <a:solidFill>
                  <a:srgbClr val="F0F2F5"/>
                </a:solidFill>
              </a:defRPr>
            </a:pPr>
            <a:r>
              <a:t>Mercado em expansao</a:t>
            </a:r>
          </a:p>
          <a:p>
            <a:pPr>
              <a:spcBef>
                <a:spcPts val="400"/>
              </a:spcBef>
              <a:defRPr sz="1000">
                <a:solidFill>
                  <a:srgbClr val="8899AA"/>
                </a:solidFill>
              </a:defRPr>
            </a:pPr>
            <a:r>
              <a:t>Backup SaaS: USD 1.2B (2026) para USD 5.1B (2035) — CAGR 15.6%. Janela de oportunidade para capturar market share.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120640" cy="16459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CATEGORIA UNICA</a:t>
            </a:r>
          </a:p>
          <a:p>
            <a:pPr>
              <a:spcBef>
                <a:spcPts val="600"/>
              </a:spcBef>
              <a:defRPr sz="1400" b="1">
                <a:solidFill>
                  <a:srgbClr val="F0F2F5"/>
                </a:solidFill>
              </a:defRPr>
            </a:pPr>
            <a:r>
              <a:t>Sem concorrente direto</a:t>
            </a:r>
          </a:p>
          <a:p>
            <a:pPr>
              <a:spcBef>
                <a:spcPts val="400"/>
              </a:spcBef>
              <a:defRPr sz="1000">
                <a:solidFill>
                  <a:srgbClr val="8899AA"/>
                </a:solidFill>
              </a:defRPr>
            </a:pPr>
            <a:r>
              <a:t>A Fenix DFA e a unica plataforma 100% agnostica de observabilidade de backup. A categoria e nossa.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16459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900" b="1">
                <a:solidFill>
                  <a:srgbClr val="4DA6FF"/>
                </a:solidFill>
              </a:defRPr>
            </a:pPr>
            <a:r>
              <a:t>REGULACAO</a:t>
            </a:r>
          </a:p>
          <a:p>
            <a:pPr>
              <a:spcBef>
                <a:spcPts val="600"/>
              </a:spcBef>
              <a:defRPr sz="1400" b="1">
                <a:solidFill>
                  <a:srgbClr val="F0F2F5"/>
                </a:solidFill>
              </a:defRPr>
            </a:pPr>
            <a:r>
              <a:t>Compliance como acelerador</a:t>
            </a:r>
          </a:p>
          <a:p>
            <a:pPr>
              <a:spcBef>
                <a:spcPts val="400"/>
              </a:spcBef>
              <a:defRPr sz="1000">
                <a:solidFill>
                  <a:srgbClr val="8899AA"/>
                </a:solidFill>
              </a:defRPr>
            </a:pPr>
            <a:r>
              <a:t>LGPD, GDPR, DORA, HIPAA e cyber insurance estao forcando empresas a validar seus backups.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120640" cy="16459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900" b="1">
                <a:solidFill>
                  <a:srgbClr val="FF4D6A"/>
                </a:solidFill>
              </a:defRPr>
            </a:pPr>
            <a:r>
              <a:t>PRODUTO PRONTO</a:t>
            </a:r>
          </a:p>
          <a:p>
            <a:pPr>
              <a:spcBef>
                <a:spcPts val="600"/>
              </a:spcBef>
              <a:defRPr sz="1400" b="1">
                <a:solidFill>
                  <a:srgbClr val="F0F2F5"/>
                </a:solidFill>
              </a:defRPr>
            </a:pPr>
            <a:r>
              <a:t>Trial que converte</a:t>
            </a:r>
          </a:p>
          <a:p>
            <a:pPr>
              <a:spcBef>
                <a:spcPts val="400"/>
              </a:spcBef>
              <a:defRPr sz="1000">
                <a:solidFill>
                  <a:srgbClr val="8899AA"/>
                </a:solidFill>
              </a:defRPr>
            </a:pPr>
            <a:r>
              <a:t>O produto ja esta maduro. Quando o CTO ve que 30% dos backups tem falhas, a venda se faz sozinha.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2F5"/>
                </a:solidFill>
                <a:latin typeface="Calibri"/>
              </a:defRPr>
            </a:pPr>
            <a:r>
              <a:t>"A Fenix nao compete com vendors de backup. Ela monitora TODOS eles. E a unica plataforma verdadeiramente agnostica do mercado."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FENIX DFA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O que a midia precisa entregar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Tres pilares complementares que alimentam o funil de vendas enterprise.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146304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A — AWARENESS</a:t>
            </a:r>
          </a:p>
          <a:p>
            <a:pPr>
              <a:spcBef>
                <a:spcPts val="800"/>
              </a:spcBef>
              <a:defRPr sz="1000">
                <a:solidFill>
                  <a:srgbClr val="8899AA"/>
                </a:solidFill>
              </a:defRPr>
            </a:pPr>
            <a:r>
              <a:t>Ser conhecida como "a plataforma que valida se seu backup funciona". Fixar posicionamento no mercado.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146304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200" b="1">
                <a:solidFill>
                  <a:srgbClr val="4DA6FF"/>
                </a:solidFill>
              </a:defRPr>
            </a:pPr>
            <a:r>
              <a:t>L — LEADS</a:t>
            </a:r>
          </a:p>
          <a:p>
            <a:pPr>
              <a:spcBef>
                <a:spcPts val="800"/>
              </a:spcBef>
              <a:defRPr sz="1000">
                <a:solidFill>
                  <a:srgbClr val="8899AA"/>
                </a:solidFill>
              </a:defRPr>
            </a:pPr>
            <a:r>
              <a:t>Gerar base de contatos qualificados (CTO, CISO, VP Infra) em empresas de medio e grande porte.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146304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T — TRIAL</a:t>
            </a:r>
          </a:p>
          <a:p>
            <a:pPr>
              <a:spcBef>
                <a:spcPts val="800"/>
              </a:spcBef>
              <a:defRPr sz="1000">
                <a:solidFill>
                  <a:srgbClr val="8899AA"/>
                </a:solidFill>
              </a:defRPr>
            </a:pPr>
            <a:r>
              <a:t>Converter leads em trials de 30 dias com suporte dedicado. O produto se vende quando testado.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6647" y="3749039"/>
            <a:ext cx="10058400" cy="41148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Awareness — "Seus backups funcionam de verdade?"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1047" y="4297679"/>
            <a:ext cx="8229600" cy="41148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DA6FF"/>
                </a:solidFill>
              </a:defRPr>
            </a:pPr>
            <a:r>
              <a:t>Consideracao — Conteudo educacional, whitepapers, webinars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5447" y="4846320"/>
            <a:ext cx="6400800" cy="41148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78BFA"/>
                </a:solidFill>
              </a:defRPr>
            </a:pPr>
            <a:r>
              <a:t>Trial — 30 dias gratuitos com onboarding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9847" y="5394959"/>
            <a:ext cx="4572000" cy="41148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Reuniao — Resultado do diagnostico + proposta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5647" y="5943600"/>
            <a:ext cx="3200400" cy="41148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Contrato — SaaS subscription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FENIX DFA — ICP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Publico-Alvo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Quem decide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CTO — Chief Technology Officer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CISO — Chief Information Security Officer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VP Infraestrutura — Vice-Presidente de TI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Gestor de Backup/DR — Disaster Recovery Manager</a:t>
            </a:r>
          </a:p>
          <a:p>
            <a:pPr algn="l">
              <a:spcBef>
                <a:spcPts val="1600"/>
              </a:spcBef>
              <a:defRPr sz="1400" b="1">
                <a:solidFill>
                  <a:srgbClr val="F59E0B"/>
                </a:solidFill>
                <a:latin typeface="Calibri"/>
              </a:defRPr>
            </a:pPr>
            <a:r>
              <a:t>Empresa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200+ funcionarios — medio e grande porte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Setores regulados — financeiro, farma, telecom, saude, governo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Compliance obrigatorio — LGPD, GDPR, DORA, HIPAA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A dor principal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F0F2F5"/>
                </a:solidFill>
                <a:latin typeface="Calibri"/>
              </a:defRPr>
            </a:pPr>
            <a:r>
              <a:t>"Meus backups estao configurados, mas sera que funcionam de verdade quando eu precisar?"</a:t>
            </a:r>
          </a:p>
          <a:p>
            <a:pPr algn="l">
              <a:spcBef>
                <a:spcPts val="1600"/>
              </a:spcBef>
              <a:defRPr sz="1400" b="1">
                <a:solidFill>
                  <a:srgbClr val="F59E0B"/>
                </a:solidFill>
                <a:latin typeface="Calibri"/>
              </a:defRPr>
            </a:pPr>
            <a:r>
              <a:t>Gatilhos de compra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Compliance LGPD/GDPR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Regulacao DORA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Cyber insurance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Auditoria proxima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Incidente recente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Migracao cloud</a:t>
            </a:r>
          </a:p>
          <a:p>
            <a:pPr algn="l">
              <a:spcBef>
                <a:spcPts val="1600"/>
              </a:spcBef>
              <a:defRPr sz="1400" b="1">
                <a:solidFill>
                  <a:srgbClr val="F59E0B"/>
                </a:solidFill>
                <a:latin typeface="Calibri"/>
              </a:defRPr>
            </a:pPr>
            <a:r>
              <a:t>Geografia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Brasil (prioritario)  |  EUA (Miami)  |  Portugal/Europa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FENIX DFA — Estrategia multicanal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Canais Principais — Midia Paga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Tres canais de midia paga, cada um com papel claro no funil.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274320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77800"/>
          <a:lstStyle/>
          <a:p>
            <a:pPr algn="ctr">
              <a:defRPr sz="1800" b="1">
                <a:solidFill>
                  <a:srgbClr val="F0F2F5"/>
                </a:solidFill>
              </a:defRPr>
            </a:pPr>
            <a:r>
              <a:t>LinkedIn Ads</a:t>
            </a:r>
          </a:p>
          <a:p>
            <a:pPr algn="ctr">
              <a:spcBef>
                <a:spcPts val="800"/>
              </a:spcBef>
              <a:defRPr sz="900" b="1">
                <a:solidFill>
                  <a:srgbClr val="F59E0B"/>
                </a:solidFill>
                <a:latin typeface="Calibri"/>
              </a:defRPr>
            </a:pPr>
            <a:r>
              <a:t>CONSIDERACAO + CONVERSAO</a:t>
            </a:r>
          </a:p>
          <a:p>
            <a:pPr algn="l">
              <a:spcBef>
                <a:spcPts val="10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Alcance direto a decisores B2B por cargo, setor e tamanho. Sponsored Content + Message Ads + Lead Gen Forms.</a:t>
            </a:r>
          </a:p>
          <a:p>
            <a:pPr algn="ctr">
              <a:spcBef>
                <a:spcPts val="1000"/>
              </a:spcBef>
              <a:defRPr sz="1200" b="1">
                <a:solidFill>
                  <a:srgbClr val="F59E0B"/>
                </a:solidFill>
                <a:latin typeface="Calibri"/>
              </a:defRPr>
            </a:pPr>
            <a:r>
              <a:t>R$5.000 — R$10.000/mes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274320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77800"/>
          <a:lstStyle/>
          <a:p>
            <a:pPr algn="ctr">
              <a:defRPr sz="1800" b="1">
                <a:solidFill>
                  <a:srgbClr val="F0F2F5"/>
                </a:solidFill>
              </a:defRPr>
            </a:pPr>
            <a:r>
              <a:t>Google Ads</a:t>
            </a:r>
          </a:p>
          <a:p>
            <a:pPr algn="ctr">
              <a:spcBef>
                <a:spcPts val="800"/>
              </a:spcBef>
              <a:defRPr sz="900" b="1">
                <a:solidFill>
                  <a:srgbClr val="4DA6FF"/>
                </a:solidFill>
                <a:latin typeface="Calibri"/>
              </a:defRPr>
            </a:pPr>
            <a:r>
              <a:t>SEARCH + YOUTUBE</a:t>
            </a:r>
          </a:p>
          <a:p>
            <a:pPr algn="l">
              <a:spcBef>
                <a:spcPts val="10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Capturar intencao ativa (Search) + educacao e retargeting (YouTube). Termos de alta intencao.</a:t>
            </a:r>
          </a:p>
          <a:p>
            <a:pPr algn="ctr">
              <a:spcBef>
                <a:spcPts val="1000"/>
              </a:spcBef>
              <a:defRPr sz="1200" b="1">
                <a:solidFill>
                  <a:srgbClr val="4DA6FF"/>
                </a:solidFill>
                <a:latin typeface="Calibri"/>
              </a:defRPr>
            </a:pPr>
            <a:r>
              <a:t>R$3.000 — R$8.000/mes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274320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77800"/>
          <a:lstStyle/>
          <a:p>
            <a:pPr algn="ctr">
              <a:defRPr sz="1800" b="1">
                <a:solidFill>
                  <a:srgbClr val="F0F2F5"/>
                </a:solidFill>
              </a:defRPr>
            </a:pPr>
            <a:r>
              <a:t>Meta Ads</a:t>
            </a:r>
          </a:p>
          <a:p>
            <a:pPr algn="ctr">
              <a:spcBef>
                <a:spcPts val="800"/>
              </a:spcBef>
              <a:defRPr sz="900" b="1">
                <a:solidFill>
                  <a:srgbClr val="A78BFA"/>
                </a:solidFill>
                <a:latin typeface="Calibri"/>
              </a:defRPr>
            </a:pPr>
            <a:r>
              <a:t>AWARENESS + RETARGETING</a:t>
            </a:r>
          </a:p>
          <a:p>
            <a:pPr algn="l">
              <a:spcBef>
                <a:spcPts val="10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Retargeting de visitantes do site + awareness em feed. Criativos de impacto para fixar a marca.</a:t>
            </a:r>
          </a:p>
          <a:p>
            <a:pPr algn="ctr">
              <a:spcBef>
                <a:spcPts val="1000"/>
              </a:spcBef>
              <a:defRPr sz="1200" b="1">
                <a:solidFill>
                  <a:srgbClr val="A78BFA"/>
                </a:solidFill>
                <a:latin typeface="Calibri"/>
              </a:defRPr>
            </a:pPr>
            <a:r>
              <a:t>R$2.000 — R$4.000/mes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029200"/>
            <a:ext cx="5760720" cy="1097280"/>
          </a:xfrm>
          <a:prstGeom prst="roundRect">
            <a:avLst/>
          </a:prstGeom>
          <a:solidFill>
            <a:srgbClr val="11182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R$10-22k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8899AA"/>
                </a:solidFill>
                <a:latin typeface="Calibri"/>
              </a:defRPr>
            </a:pPr>
            <a:r>
              <a:t>investimento mensal total em midia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FENIX DFA — Canal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LinkedIn Ads — O motor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Por que LinkedIn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Targeting por cargo: CTO, CISO, VP IT, IT Director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Targeting por setor: Financeiro, Saude, Telecom, Farma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Targeting por tamanho: 200+ funcionarios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Lead Gen Forms: conversao sem sair da plataforma</a:t>
            </a:r>
          </a:p>
          <a:p>
            <a:pPr algn="l">
              <a:spcBef>
                <a:spcPts val="1400"/>
              </a:spcBef>
              <a:defRPr sz="1400" b="1">
                <a:solidFill>
                  <a:srgbClr val="F59E0B"/>
                </a:solidFill>
                <a:latin typeface="Calibri"/>
              </a:defRPr>
            </a:pPr>
            <a:r>
              <a:t>Formatos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Sponsored Content  |  Message Ads (InMail)  |  Lead Gen Forms</a:t>
            </a:r>
          </a:p>
          <a:p>
            <a:pPr algn="l">
              <a:spcBef>
                <a:spcPts val="1400"/>
              </a:spcBef>
              <a:defRPr sz="1400" b="1">
                <a:solidFill>
                  <a:srgbClr val="F59E0B"/>
                </a:solidFill>
                <a:latin typeface="Calibri"/>
              </a:defRPr>
            </a:pPr>
            <a:r>
              <a:t>KPIs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CPL  |  Taxa de trial  |  Reunioes agendadas  |  CTR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11480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FENIX DFA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Exemplo de Sponsored Content</a:t>
            </a:r>
          </a:p>
          <a:p>
            <a:pPr algn="l">
              <a:spcBef>
                <a:spcPts val="1200"/>
              </a:spcBef>
              <a:defRPr sz="1200" b="0">
                <a:solidFill>
                  <a:srgbClr val="F0F2F5"/>
                </a:solidFill>
                <a:latin typeface="Calibri"/>
              </a:defRPr>
            </a:pPr>
            <a:r>
              <a:t>CTOs de empresas reguladas estao descobrindo que seus backups nao passam em auditoria. A Fenix DFA monitora e valida automaticamente. Trial gratuito de 30 dias.</a:t>
            </a:r>
          </a:p>
          <a:p>
            <a:pPr algn="l">
              <a:spcBef>
                <a:spcPts val="1600"/>
              </a:spcBef>
              <a:defRPr sz="1600" b="1">
                <a:solidFill>
                  <a:srgbClr val="F0F2F5"/>
                </a:solidFill>
                <a:latin typeface="Calibri"/>
              </a:defRPr>
            </a:pPr>
            <a:r>
              <a:t>Seu backup passa no teste de compliance?</a:t>
            </a:r>
          </a:p>
          <a:p>
            <a:pPr algn="l">
              <a:spcBef>
                <a:spcPts val="8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Plataforma agnostica de observabilidade. Integra com qualquer vendor. Descubra falhas antes da auditoria.</a:t>
            </a:r>
          </a:p>
          <a:p>
            <a:pPr algn="l">
              <a:spcBef>
                <a:spcPts val="1200"/>
              </a:spcBef>
              <a:defRPr sz="1000" b="0">
                <a:solidFill>
                  <a:srgbClr val="F59E0B"/>
                </a:solidFill>
                <a:latin typeface="Calibri"/>
              </a:defRPr>
            </a:pPr>
            <a:r>
              <a:t>fenixdfa.com  •  Sign 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FENIX DFA — Captura de intencao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Google Search — Alta intencao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Termos de alta intencao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Quem busca ja tem a dor. Capturar no momento da decisao.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F59E0B"/>
                </a:solidFill>
                <a:latin typeface="Calibri"/>
              </a:defRPr>
            </a:pPr>
            <a:r>
              <a:t>  • backup monitoring tool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F59E0B"/>
                </a:solidFill>
                <a:latin typeface="Calibri"/>
              </a:defRPr>
            </a:pPr>
            <a:r>
              <a:t>  • compliance backup LGPD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F59E0B"/>
                </a:solidFill>
                <a:latin typeface="Calibri"/>
              </a:defRPr>
            </a:pPr>
            <a:r>
              <a:t>  • validar backup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F59E0B"/>
                </a:solidFill>
                <a:latin typeface="Calibri"/>
              </a:defRPr>
            </a:pPr>
            <a:r>
              <a:t>  • cyber insurance backup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F59E0B"/>
                </a:solidFill>
                <a:latin typeface="Calibri"/>
              </a:defRPr>
            </a:pPr>
            <a:r>
              <a:t>  • backup audit software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F59E0B"/>
                </a:solidFill>
                <a:latin typeface="Calibri"/>
              </a:defRPr>
            </a:pPr>
            <a:r>
              <a:t>  • backup SLA monitoring</a:t>
            </a:r>
          </a:p>
          <a:p>
            <a:pPr algn="l">
              <a:spcBef>
                <a:spcPts val="1400"/>
              </a:spcBef>
              <a:defRPr sz="1400" b="1">
                <a:solidFill>
                  <a:srgbClr val="F59E0B"/>
                </a:solidFill>
                <a:latin typeface="Calibri"/>
              </a:defRPr>
            </a:pPr>
            <a:r>
              <a:t>Estrategia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Mes 1: Search puro (alta intencao, CPL mais baixo)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Mes 2+: Expandir para Display retargeting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Conversao: Trial 30 dias como objetivo primario</a:t>
            </a:r>
          </a:p>
          <a:p>
            <a:pPr algn="l">
              <a:spcBef>
                <a:spcPts val="1000"/>
              </a:spcBef>
              <a:defRPr sz="1200" b="1">
                <a:solidFill>
                  <a:srgbClr val="F59E0B"/>
                </a:solidFill>
                <a:latin typeface="Calibri"/>
              </a:defRPr>
            </a:pPr>
            <a:r>
              <a:t>Budget: R$3.000 — R$8.000/mes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defRPr sz="1800" b="1">
                <a:solidFill>
                  <a:srgbClr val="4285F4"/>
                </a:solidFill>
              </a:defRPr>
            </a:pPr>
            <a:r>
              <a:t>Google</a:t>
            </a:r>
          </a:p>
          <a:p>
            <a:pPr algn="l">
              <a:spcBef>
                <a:spcPts val="800"/>
              </a:spcBef>
              <a:defRPr sz="1100" b="0">
                <a:solidFill>
                  <a:srgbClr val="202124"/>
                </a:solidFill>
                <a:latin typeface="Calibri"/>
              </a:defRPr>
            </a:pPr>
            <a:r>
              <a:t>backup monitoring compliance LGPD</a:t>
            </a:r>
          </a:p>
          <a:p>
            <a:pPr algn="l">
              <a:spcBef>
                <a:spcPts val="1400"/>
              </a:spcBef>
              <a:defRPr sz="900" b="1">
                <a:solidFill>
                  <a:srgbClr val="202124"/>
                </a:solidFill>
                <a:latin typeface="Calibri"/>
              </a:defRPr>
            </a:pPr>
            <a:r>
              <a:t>Patrocinado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02124"/>
                </a:solidFill>
                <a:latin typeface="Calibri"/>
              </a:defRPr>
            </a:pPr>
            <a:r>
              <a:t>fenixdfa.com/trial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1A0DAB"/>
                </a:solidFill>
                <a:latin typeface="Calibri"/>
              </a:defRPr>
            </a:pPr>
            <a:r>
              <a:t>Monitore Seus Backups 24/7 | Fenix DFA — Trial Gratis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4D5156"/>
                </a:solidFill>
                <a:latin typeface="Calibri"/>
              </a:defRPr>
            </a:pPr>
            <a:r>
              <a:t>Valide se seus backups funcionam antes que seja tarde. Plataforma agnostica, compliance LGPD/GDPR. 30 dias gratis.</a:t>
            </a:r>
          </a:p>
          <a:p>
            <a:pPr algn="l">
              <a:spcBef>
                <a:spcPts val="1000"/>
              </a:spcBef>
              <a:defRPr sz="1000" b="0">
                <a:solidFill>
                  <a:srgbClr val="1A0DAB"/>
                </a:solidFill>
                <a:latin typeface="Calibri"/>
              </a:defRPr>
            </a:pPr>
            <a:r>
              <a:t>Free Trial  |  Funcionalidades  |  Compliance  |  Sobre Nos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FENIX DFA —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YouTube Ads — Educacao e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Formato: In-Stream (15-30s)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Pre-roll em canais de TI, ciberseguranca e infraestrutura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Mensagem direta: "Voce confia no seu backup?"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CTA: Trial gratuito de 30 dias</a:t>
            </a:r>
          </a:p>
          <a:p>
            <a:pPr algn="l">
              <a:spcBef>
                <a:spcPts val="1400"/>
              </a:spcBef>
              <a:defRPr sz="1400" b="1">
                <a:solidFill>
                  <a:srgbClr val="F59E0B"/>
                </a:solidFill>
                <a:latin typeface="Calibri"/>
              </a:defRPr>
            </a:pPr>
            <a:r>
              <a:t>Roteiro sugerido (15s)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F0F2F5"/>
                </a:solidFill>
                <a:latin typeface="Calibri"/>
              </a:defRPr>
            </a:pPr>
            <a:r>
              <a:t>"Sua empresa acredita que os dados estao protegidos. Mas voce ja testou se consegue recuperar em caso de desastre?</a:t>
            </a:r>
            <a:br/>
            <a:br/>
            <a:r>
              <a:t>A Fenix DFA monitora seus backups 24/7 e mostra o que realmente funciona.</a:t>
            </a:r>
            <a:br/>
            <a:br/>
            <a:r>
              <a:t>Trial gratuito de 30 dias. Sem compromisso."</a:t>
            </a:r>
          </a:p>
          <a:p>
            <a:pPr algn="l">
              <a:spcBef>
                <a:spcPts val="1400"/>
              </a:spcBef>
              <a:defRPr sz="1400" b="1">
                <a:solidFill>
                  <a:srgbClr val="F59E0B"/>
                </a:solidFill>
                <a:latin typeface="Calibri"/>
              </a:defRPr>
            </a:pPr>
            <a:r>
              <a:t>Targeting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In-market: IT Security  |  Custom: backup software  |  Remarketing: site visitors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365760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508000"/>
          <a:lstStyle/>
          <a:p>
            <a:pPr algn="ctr">
              <a:defRPr sz="2400" b="1">
                <a:solidFill>
                  <a:srgbClr val="F0F2F5"/>
                </a:solidFill>
              </a:defRPr>
            </a:pPr>
            <a:r>
              <a:t>Seus backups funcionam?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F59E0B"/>
                </a:solidFill>
                <a:latin typeface="Calibri"/>
              </a:defRPr>
            </a:pPr>
            <a:r>
              <a:t>FENIX DFA — Descubra em 30 dias</a:t>
            </a:r>
          </a:p>
          <a:p>
            <a:pPr algn="l">
              <a:spcBef>
                <a:spcPts val="3000"/>
              </a:spcBef>
              <a:defRPr sz="800" b="0">
                <a:solidFill>
                  <a:srgbClr val="8899AA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Anuncio • 0:15                                      Pular anuncio »</a:t>
            </a:r>
          </a:p>
          <a:p>
            <a:pPr algn="ctr">
              <a:spcBef>
                <a:spcPts val="1400"/>
              </a:spcBef>
              <a:defRPr sz="1100" b="1">
                <a:solidFill>
                  <a:srgbClr val="F59E0B"/>
                </a:solidFill>
                <a:latin typeface="Calibri"/>
              </a:defRPr>
            </a:pPr>
            <a:r>
              <a:t>Fenix DFA  |  fenixdfa.com/trial  |  TESTE GRATIS 30 DIAS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FENIX DFA — Awareness + Retargeting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Meta Ads — Feed e retargeting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Papel no funil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Awareness: Criativos de impacto no feed do Instagram e Facebook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Retargeting: Visitantes do site que nao converteram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Lookalike: Audiencias similares a trials iniciados</a:t>
            </a:r>
          </a:p>
          <a:p>
            <a:pPr algn="l">
              <a:spcBef>
                <a:spcPts val="1400"/>
              </a:spcBef>
              <a:defRPr sz="1400" b="1">
                <a:solidFill>
                  <a:srgbClr val="F59E0B"/>
                </a:solidFill>
                <a:latin typeface="Calibri"/>
              </a:defRPr>
            </a:pPr>
            <a:r>
              <a:t>Exemplo de texto primario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F0F2F5"/>
                </a:solidFill>
                <a:latin typeface="Calibri"/>
              </a:defRPr>
            </a:pPr>
            <a:r>
              <a:t>Sua empresa acredita que os dados estao protegidos. Mas ja testou se consegue recuperar em caso de desastre?</a:t>
            </a:r>
            <a:br/>
            <a:br/>
            <a:r>
              <a:t>A Fenix DFA monitora seus backups 24/7 e mostra o que realmente funciona.</a:t>
            </a:r>
            <a:br/>
            <a:br/>
            <a:r>
              <a:t>Trial gratuito, sem compromisso.</a:t>
            </a:r>
          </a:p>
          <a:p>
            <a:pPr algn="l">
              <a:spcBef>
                <a:spcPts val="1200"/>
              </a:spcBef>
              <a:defRPr sz="1200" b="1">
                <a:solidFill>
                  <a:srgbClr val="F59E0B"/>
                </a:solidFill>
                <a:latin typeface="Calibri"/>
              </a:defRPr>
            </a:pPr>
            <a:r>
              <a:t>Budget: R$2.000 — R$4.000/mes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4572000" cy="457200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/>
          <a:lstStyle/>
          <a:p>
            <a:pPr algn="ctr">
              <a:defRPr sz="1100" b="1">
                <a:solidFill>
                  <a:srgbClr val="F0F2F5"/>
                </a:solidFill>
              </a:defRPr>
            </a:pPr>
            <a:r>
              <a:t>fenixdfa  •  Patrocinado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8899AA"/>
                </a:solidFill>
                <a:latin typeface="Calibri"/>
              </a:defRPr>
            </a:pPr>
          </a:p>
          <a:p>
            <a:pPr algn="ctr">
              <a:spcBef>
                <a:spcPts val="800"/>
              </a:spcBef>
              <a:defRPr sz="900" b="1">
                <a:solidFill>
                  <a:srgbClr val="10B981"/>
                </a:solidFill>
                <a:latin typeface="Calibri"/>
              </a:defRPr>
            </a:pPr>
            <a:r>
              <a:t>GRATIS POR 30 DIAS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59E0B"/>
                </a:solidFill>
                <a:latin typeface="Calibri"/>
              </a:defRPr>
            </a:pPr>
            <a:r>
              <a:t>FENIX DFA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F0F2F5"/>
                </a:solidFill>
                <a:latin typeface="Calibri"/>
              </a:defRPr>
            </a:pPr>
            <a:r>
              <a:t>Seus backups funcionam de verdade?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Descubra em 30 dias — Teste gratis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8899AA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000" b="1">
                <a:solidFill>
                  <a:srgbClr val="F59E0B"/>
                </a:solidFill>
                <a:latin typeface="Calibri"/>
              </a:defRPr>
            </a:pPr>
            <a:r>
              <a:t>fenixdfa.com                    Iniciar Trial Gratuito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8899A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fenixdfa  Sua empresa acredita que os dados estao protegidos. Mas ja testou se consegue recuperar em caso de desastre?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FENIX DFA — Conversao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Estrategia de Trial 30 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O trial e o ponto central da estrategia. Todo canal deve convergir para ele.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11887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SEMANA 1</a:t>
            </a:r>
          </a:p>
          <a:p>
            <a:pPr algn="l">
              <a:spcBef>
                <a:spcPts val="400"/>
              </a:spcBef>
              <a:defRPr sz="1400" b="1">
                <a:solidFill>
                  <a:srgbClr val="F0F2F5"/>
                </a:solidFill>
                <a:latin typeface="Calibri"/>
              </a:defRPr>
            </a:pPr>
            <a:r>
              <a:t>Setup + onboarding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Integracao com ambiente do cliente. Suporte dedicado. Primeiros insights de observabilidade.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5029200" cy="11887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900" b="1">
                <a:solidFill>
                  <a:srgbClr val="4DA6FF"/>
                </a:solidFill>
              </a:defRPr>
            </a:pPr>
            <a:r>
              <a:t>SEMANA 2-3</a:t>
            </a:r>
          </a:p>
          <a:p>
            <a:pPr algn="l">
              <a:spcBef>
                <a:spcPts val="400"/>
              </a:spcBef>
              <a:defRPr sz="1400" b="1">
                <a:solidFill>
                  <a:srgbClr val="F0F2F5"/>
                </a:solidFill>
                <a:latin typeface="Calibri"/>
              </a:defRPr>
            </a:pPr>
            <a:r>
              <a:t>Valor tangivel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Relatorios automaticos. Alertas de falhas. Cliente ve o valor da plataforma na pratica.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029200" cy="11887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SEMANA 4</a:t>
            </a:r>
          </a:p>
          <a:p>
            <a:pPr algn="l">
              <a:spcBef>
                <a:spcPts val="400"/>
              </a:spcBef>
              <a:defRPr sz="1400" b="1">
                <a:solidFill>
                  <a:srgbClr val="F0F2F5"/>
                </a:solidFill>
                <a:latin typeface="Calibri"/>
              </a:defRPr>
            </a:pPr>
            <a:r>
              <a:t>Diagnostico + reuniao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Relatorio completo do ambiente de backup. Reuniao de sales com resultado concreto.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Porque o trial funciona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0F2F5"/>
                </a:solidFill>
                <a:latin typeface="Calibri"/>
              </a:defRPr>
            </a:pPr>
            <a:r>
              <a:t>"Quando o CTO ve que 30% dos seus backups tem falhas que ele desconhecia, a venda se faz sozinha."</a:t>
            </a:r>
          </a:p>
          <a:p>
            <a:pPr algn="l">
              <a:spcBef>
                <a:spcPts val="1400"/>
              </a:spcBef>
              <a:defRPr sz="1400" b="1">
                <a:solidFill>
                  <a:srgbClr val="F59E0B"/>
                </a:solidFill>
                <a:latin typeface="Calibri"/>
              </a:defRPr>
            </a:pPr>
            <a:r>
              <a:t>Nurture durante o trial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E-mail dia 1: Guia de setup + link de suporte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E-mail dia 7: Primeiros insights + dicas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E-mail dia 14: Case study relevante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E-mail dia 21: Convite para reuniao de diagnostico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• E-mail dia 28: Relatorio final + proposta</a:t>
            </a:r>
          </a:p>
          <a:p>
            <a:pPr algn="l">
              <a:spcBef>
                <a:spcPts val="1400"/>
              </a:spcBef>
              <a:defRPr sz="1400" b="1">
                <a:solidFill>
                  <a:srgbClr val="F59E0B"/>
                </a:solidFill>
                <a:latin typeface="Calibri"/>
              </a:defRPr>
            </a:pPr>
            <a:r>
              <a:t>Metricas de trial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8899AA"/>
                </a:solidFill>
                <a:latin typeface="Calibri"/>
              </a:defRPr>
            </a:pPr>
            <a:r>
              <a:t>  Trial starts  |  Trial-to-paid %  |  Time-to-value  |  NPS do trial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FENIX DFA — Projecao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O que a midia pode trazer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Estimativas conservadoras baseadas em benchmarks de SaaS B2B enterprise.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Canal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Investimento/mes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Leads estimados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Trials estimados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CPL estimado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2F5"/>
                          </a:solidFill>
                          <a:latin typeface="Calibri"/>
                        </a:defRPr>
                      </a:pPr>
                      <a:r>
                        <a:t>LinkedIn Ads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R$8.000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40 — 60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8 — 12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R$130 — R$200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2F5"/>
                          </a:solidFill>
                          <a:latin typeface="Calibri"/>
                        </a:defRPr>
                      </a:pPr>
                      <a:r>
                        <a:t>Google Search</a:t>
                      </a:r>
                    </a:p>
                  </a:txBody>
                  <a:tcPr>
                    <a:solidFill>
                      <a:srgbClr val="0A0E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R$5.000</a:t>
                      </a:r>
                    </a:p>
                  </a:txBody>
                  <a:tcPr>
                    <a:solidFill>
                      <a:srgbClr val="0A0E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20 — 40</a:t>
                      </a:r>
                    </a:p>
                  </a:txBody>
                  <a:tcPr>
                    <a:solidFill>
                      <a:srgbClr val="0A0E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5 — 10</a:t>
                      </a:r>
                    </a:p>
                  </a:txBody>
                  <a:tcPr>
                    <a:solidFill>
                      <a:srgbClr val="0A0E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R$125 — R$250</a:t>
                      </a:r>
                    </a:p>
                  </a:txBody>
                  <a:tcPr>
                    <a:solidFill>
                      <a:srgbClr val="0A0E1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2F5"/>
                          </a:solidFill>
                          <a:latin typeface="Calibri"/>
                        </a:defRPr>
                      </a:pPr>
                      <a:r>
                        <a:t>YouTube Ads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R$2.000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5 — 15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1 — 3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R$130 — R$400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2F5"/>
                          </a:solidFill>
                          <a:latin typeface="Calibri"/>
                        </a:defRPr>
                      </a:pPr>
                      <a:r>
                        <a:t>Meta Ads</a:t>
                      </a:r>
                    </a:p>
                  </a:txBody>
                  <a:tcPr>
                    <a:solidFill>
                      <a:srgbClr val="0A0E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R$3.000</a:t>
                      </a:r>
                    </a:p>
                  </a:txBody>
                  <a:tcPr>
                    <a:solidFill>
                      <a:srgbClr val="0A0E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15 — 25</a:t>
                      </a:r>
                    </a:p>
                  </a:txBody>
                  <a:tcPr>
                    <a:solidFill>
                      <a:srgbClr val="0A0E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3 — 5</a:t>
                      </a:r>
                    </a:p>
                  </a:txBody>
                  <a:tcPr>
                    <a:solidFill>
                      <a:srgbClr val="0A0E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9AA"/>
                          </a:solidFill>
                          <a:latin typeface="Calibri"/>
                        </a:defRPr>
                      </a:pPr>
                      <a:r>
                        <a:t>R$120 — R$200</a:t>
                      </a:r>
                    </a:p>
                  </a:txBody>
                  <a:tcPr>
                    <a:solidFill>
                      <a:srgbClr val="0A0E1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4572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R$18k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investimento mensal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4572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80-140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leads qualificados/mes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572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17-30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trials iniciados/mes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6677"/>
                </a:solidFill>
                <a:latin typeface="Calibri"/>
              </a:defRPr>
            </a:pPr>
            <a:r>
              <a:t>* Estimativas conservadoras. Resultados reais dependem de qualidade do criativo, LP e otimizacao continua.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FENIX DFA — Alem da midia paga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Acoes Complementares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A midia paga funciona melhor quando existe infraestrutura de confianca ao redor.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137160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CONTEUDO</a:t>
            </a:r>
          </a:p>
          <a:p>
            <a:pPr>
              <a:spcBef>
                <a:spcPts val="600"/>
              </a:spcBef>
              <a:defRPr sz="1400" b="1">
                <a:solidFill>
                  <a:srgbClr val="F0F2F5"/>
                </a:solidFill>
              </a:defRPr>
            </a:pPr>
            <a:r>
              <a:t>Content Marketing + SEO</a:t>
            </a:r>
          </a:p>
          <a:p>
            <a:pPr>
              <a:spcBef>
                <a:spcPts val="400"/>
              </a:spcBef>
              <a:defRPr sz="1000">
                <a:solidFill>
                  <a:srgbClr val="8899AA"/>
                </a:solidFill>
              </a:defRPr>
            </a:pPr>
            <a:r>
              <a:t>Blog com artigos estrategicos. Whitepapers gated para captura de leads. SEO em termos de nicho.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303520" cy="137160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CREDIBILIDADE</a:t>
            </a:r>
          </a:p>
          <a:p>
            <a:pPr>
              <a:spcBef>
                <a:spcPts val="600"/>
              </a:spcBef>
              <a:defRPr sz="1400" b="1">
                <a:solidFill>
                  <a:srgbClr val="F0F2F5"/>
                </a:solidFill>
              </a:defRPr>
            </a:pPr>
            <a:r>
              <a:t>G2 + Capterra</a:t>
            </a:r>
          </a:p>
          <a:p>
            <a:pPr>
              <a:spcBef>
                <a:spcPts val="400"/>
              </a:spcBef>
              <a:defRPr sz="1000">
                <a:solidFill>
                  <a:srgbClr val="8899AA"/>
                </a:solidFill>
              </a:defRPr>
            </a:pPr>
            <a:r>
              <a:t>Cadastrar a Fenix, solicitar reviews de clientes existentes. Reviews sao o selo de confianca #1 para buyer B2B.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5303520" cy="137160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900" b="1">
                <a:solidFill>
                  <a:srgbClr val="4DA6FF"/>
                </a:solidFill>
              </a:defRPr>
            </a:pPr>
            <a:r>
              <a:t>EVENTOS</a:t>
            </a:r>
          </a:p>
          <a:p>
            <a:pPr>
              <a:spcBef>
                <a:spcPts val="600"/>
              </a:spcBef>
              <a:defRPr sz="1400" b="1">
                <a:solidFill>
                  <a:srgbClr val="F0F2F5"/>
                </a:solidFill>
              </a:defRPr>
            </a:pPr>
            <a:r>
              <a:t>Webinars + Eventos digitais</a:t>
            </a:r>
          </a:p>
          <a:p>
            <a:pPr>
              <a:spcBef>
                <a:spcPts val="400"/>
              </a:spcBef>
              <a:defRPr sz="1000">
                <a:solidFill>
                  <a:srgbClr val="8899AA"/>
                </a:solidFill>
              </a:defRPr>
            </a:pPr>
            <a:r>
              <a:t>Webinars tematicos sobre compliance e observabilidade. Amplificar MWC e Hannover Messe.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5303520" cy="137160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900" b="1">
                <a:solidFill>
                  <a:srgbClr val="A78BFA"/>
                </a:solidFill>
              </a:defRPr>
            </a:pPr>
            <a:r>
              <a:t>THOUGHT LEADERSHIP</a:t>
            </a:r>
          </a:p>
          <a:p>
            <a:pPr>
              <a:spcBef>
                <a:spcPts val="600"/>
              </a:spcBef>
              <a:defRPr sz="1400" b="1">
                <a:solidFill>
                  <a:srgbClr val="F0F2F5"/>
                </a:solidFill>
              </a:defRPr>
            </a:pPr>
            <a:r>
              <a:t>CEO como autoridade</a:t>
            </a:r>
          </a:p>
          <a:p>
            <a:pPr>
              <a:spcBef>
                <a:spcPts val="400"/>
              </a:spcBef>
              <a:defRPr sz="1000">
                <a:solidFill>
                  <a:srgbClr val="8899AA"/>
                </a:solidFill>
              </a:defRPr>
            </a:pPr>
            <a:r>
              <a:t>LinkedIn pessoal do CEO com posts regulares sobre observabilidade, compliance e resiliencia de 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5303520" cy="11887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INDICACAO</a:t>
            </a:r>
          </a:p>
          <a:p>
            <a:pPr>
              <a:spcBef>
                <a:spcPts val="600"/>
              </a:spcBef>
              <a:defRPr sz="1400" b="1">
                <a:solidFill>
                  <a:srgbClr val="F0F2F5"/>
                </a:solidFill>
              </a:defRPr>
            </a:pPr>
            <a:r>
              <a:t>Programa de indicacao</a:t>
            </a:r>
          </a:p>
          <a:p>
            <a:pPr>
              <a:spcBef>
                <a:spcPts val="400"/>
              </a:spcBef>
              <a:defRPr sz="1000">
                <a:solidFill>
                  <a:srgbClr val="8899AA"/>
                </a:solidFill>
              </a:defRPr>
            </a:pPr>
            <a:r>
              <a:t>Clientes existentes indicam novos. Incentivo: desconto na mensalidade ou extensao de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120640"/>
            <a:ext cx="5303520" cy="11887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INTEGRACOES</a:t>
            </a:r>
          </a:p>
          <a:p>
            <a:pPr>
              <a:spcBef>
                <a:spcPts val="600"/>
              </a:spcBef>
              <a:defRPr sz="1400" b="1">
                <a:solidFill>
                  <a:srgbClr val="F0F2F5"/>
                </a:solidFill>
              </a:defRPr>
            </a:pPr>
            <a:r>
              <a:t>Integracoes como trust signal</a:t>
            </a:r>
          </a:p>
          <a:p>
            <a:pPr>
              <a:spcBef>
                <a:spcPts val="400"/>
              </a:spcBef>
              <a:defRPr sz="1000">
                <a:solidFill>
                  <a:srgbClr val="8899AA"/>
                </a:solidFill>
              </a:defRPr>
            </a:pPr>
            <a:r>
              <a:t>Compatibilidade com Veeam, Veritas, Commvault, IBM, Dell EMC, Azure, AWS, GCP, Oracle.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PROXIMOS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2F5"/>
                </a:solidFill>
                <a:latin typeface="Calibri"/>
              </a:defRPr>
            </a:pPr>
            <a:r>
              <a:t>Vamos comecar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Calibri"/>
              </a:defRPr>
            </a:pPr>
            <a:r>
              <a:t>6 acoes para colocar o plano em pratica nas proximas semanas.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00400" cy="16459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01</a:t>
            </a:r>
          </a:p>
          <a:p>
            <a:pPr algn="l">
              <a:spcBef>
                <a:spcPts val="400"/>
              </a:spcBef>
              <a:defRPr sz="1400" b="1">
                <a:solidFill>
                  <a:srgbClr val="F0F2F5"/>
                </a:solidFill>
                <a:latin typeface="Calibri"/>
              </a:defRPr>
            </a:pPr>
            <a:r>
              <a:t>Definir budget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Alinhar investimento mensal. Recomendacao minima: R$10k/mes nos 3 canais principais.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286000"/>
            <a:ext cx="3200400" cy="16459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/>
          <a:lstStyle/>
          <a:p>
            <a:pPr algn="ctr">
              <a:defRPr sz="2400" b="1">
                <a:solidFill>
                  <a:srgbClr val="4DA6FF"/>
                </a:solidFill>
              </a:defRPr>
            </a:pPr>
            <a:r>
              <a:t>02</a:t>
            </a:r>
          </a:p>
          <a:p>
            <a:pPr algn="l">
              <a:spcBef>
                <a:spcPts val="400"/>
              </a:spcBef>
              <a:defRPr sz="1400" b="1">
                <a:solidFill>
                  <a:srgbClr val="F0F2F5"/>
                </a:solidFill>
                <a:latin typeface="Calibri"/>
              </a:defRPr>
            </a:pPr>
            <a:r>
              <a:t>Landing page trial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Criar LP otimizada para conversao em trial de 30 dias com tracking completo.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286000"/>
            <a:ext cx="3200400" cy="16459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03</a:t>
            </a:r>
          </a:p>
          <a:p>
            <a:pPr algn="l">
              <a:spcBef>
                <a:spcPts val="400"/>
              </a:spcBef>
              <a:defRPr sz="1400" b="1">
                <a:solidFill>
                  <a:srgbClr val="F0F2F5"/>
                </a:solidFill>
                <a:latin typeface="Calibri"/>
              </a:defRPr>
            </a:pPr>
            <a:r>
              <a:t>Setup ads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Configurar LinkedIn + Google + Meta Ads. Pixels, conversoes, segmentacoes.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80"/>
            <a:ext cx="3200400" cy="16459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/>
          <a:lstStyle/>
          <a:p>
            <a:pPr algn="ctr">
              <a:defRPr sz="2400" b="1">
                <a:solidFill>
                  <a:srgbClr val="A78BFA"/>
                </a:solidFill>
              </a:defRPr>
            </a:pPr>
            <a:r>
              <a:t>04</a:t>
            </a:r>
          </a:p>
          <a:p>
            <a:pPr algn="l">
              <a:spcBef>
                <a:spcPts val="400"/>
              </a:spcBef>
              <a:defRPr sz="1400" b="1">
                <a:solidFill>
                  <a:srgbClr val="F0F2F5"/>
                </a:solidFill>
                <a:latin typeface="Calibri"/>
              </a:defRPr>
            </a:pPr>
            <a:r>
              <a:t>Criativos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Produzir criativos para cada canal. Testar variacoes de copy e visual.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297680"/>
            <a:ext cx="3200400" cy="16459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05</a:t>
            </a:r>
          </a:p>
          <a:p>
            <a:pPr algn="l">
              <a:spcBef>
                <a:spcPts val="400"/>
              </a:spcBef>
              <a:defRPr sz="1400" b="1">
                <a:solidFill>
                  <a:srgbClr val="F0F2F5"/>
                </a:solidFill>
                <a:latin typeface="Calibri"/>
              </a:defRPr>
            </a:pPr>
            <a:r>
              <a:t>Lancar campanhas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Go live! LinkedIn e Google Search na semana 1. Meta e YouTube na semana 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297680"/>
            <a:ext cx="3200400" cy="1645920"/>
          </a:xfrm>
          <a:prstGeom prst="roundRect">
            <a:avLst/>
          </a:prstGeom>
          <a:solidFill>
            <a:srgbClr val="111820"/>
          </a:solidFill>
          <a:ln w="12700">
            <a:solidFill>
              <a:srgbClr val="22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/>
          <a:lstStyle/>
          <a:p>
            <a:pPr algn="ctr">
              <a:defRPr sz="2400" b="1">
                <a:solidFill>
                  <a:srgbClr val="FF4D6A"/>
                </a:solidFill>
              </a:defRPr>
            </a:pPr>
            <a:r>
              <a:t>06</a:t>
            </a:r>
          </a:p>
          <a:p>
            <a:pPr algn="l">
              <a:spcBef>
                <a:spcPts val="400"/>
              </a:spcBef>
              <a:defRPr sz="1400" b="1">
                <a:solidFill>
                  <a:srgbClr val="F0F2F5"/>
                </a:solidFill>
                <a:latin typeface="Calibri"/>
              </a:defRPr>
            </a:pPr>
            <a:r>
              <a:t>Otimizar e escalar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8899AA"/>
                </a:solidFill>
                <a:latin typeface="Calibri"/>
              </a:defRPr>
            </a:pPr>
            <a:r>
              <a:t>Monitorar metricas diariamente. Escalar canais vencedores. Pausar o que nao performa.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6677"/>
                </a:solidFill>
                <a:latin typeface="Calibri"/>
              </a:defRPr>
            </a:pPr>
            <a:r>
              <a:t>FENIX DFA  •  fenixdfa.com  •  Observabilidade inteligente de backup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